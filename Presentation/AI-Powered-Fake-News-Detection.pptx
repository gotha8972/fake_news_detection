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Poppins Light" panose="00000400000000000000" pitchFamily="2" charset="0"/>
      <p:regular r:id="rId17"/>
    </p:embeddedFont>
    <p:embeddedFont>
      <p:font typeface="Roboto Bold" panose="020B0604020202020204" charset="0"/>
      <p:regular r:id="rId18"/>
    </p:embeddedFont>
    <p:embeddedFont>
      <p:font typeface="Roboto Light" panose="02000000000000000000" pitchFamily="2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5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9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7165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2164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AI-Powered Fake News Detection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20219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Using Text Classification to Combat Misinformation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206502"/>
            <a:ext cx="3204939" cy="215354"/>
          </a:xfrm>
          <a:prstGeom prst="roundRect">
            <a:avLst>
              <a:gd name="adj" fmla="val 22119"/>
            </a:avLst>
          </a:prstGeom>
          <a:solidFill>
            <a:srgbClr val="25252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81174" y="3248992"/>
            <a:ext cx="349202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HARSHIL PATEL · 183320 · IICT SUMMER INTERNSHIP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86532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Misinformation Crisis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242120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Fake news — articles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intentionally fabricated to deceive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propagates rapidly across social media, often outpacing manual fact-checking. The spread of misinformation poses a severe threat to societal discourse, political stability, and public health.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308845"/>
            <a:ext cx="2290465" cy="1279996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71640" y="2455366"/>
            <a:ext cx="19974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Threat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71640" y="2761878"/>
            <a:ext cx="19974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Fake news spreads faster than truth, undermining public trust and societal stability.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2308845"/>
            <a:ext cx="2290539" cy="1279996"/>
          </a:xfrm>
          <a:prstGeom prst="roundRect">
            <a:avLst>
              <a:gd name="adj" fmla="val 4652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3863" y="2455366"/>
            <a:ext cx="1997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Solution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503863" y="2761878"/>
            <a:ext cx="199749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Automated AI/NLP pipelines serve as a first line of defense against deceptive content.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730600"/>
            <a:ext cx="4722763" cy="826368"/>
          </a:xfrm>
          <a:prstGeom prst="roundRect">
            <a:avLst>
              <a:gd name="adj" fmla="val 7205"/>
            </a:avLst>
          </a:prstGeom>
          <a:solidFill>
            <a:srgbClr val="3D3D42"/>
          </a:solidFill>
          <a:ln w="4763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71640" y="3877121"/>
            <a:ext cx="44297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Goal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71640" y="418363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Classify news articles as Real (0) or Fake (1) using machine learning.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063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89459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75743"/>
            <a:ext cx="3902943" cy="26019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40367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Balanced Benchmark Dataset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766888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synthetic benchmark dataset was generated dynamically to ensure reproducibility and realistic representation of news data.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2574875"/>
            <a:ext cx="3902943" cy="1065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1,000 total instances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of news articles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Primary feature: raw textual content (</a:t>
            </a: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Target variable: </a:t>
            </a:r>
            <a:r>
              <a:rPr lang="en-US" sz="110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(Real = 0, Fake = 1)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Perfectly balanced: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500 real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500 fake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articles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431"/>
            <a:ext cx="8151763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Text Preprocessing Pipeline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96119" y="840879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Raw text undergoes rigorous cleaning before feature extraction, converting unstructured content into a format suitable for ML algorithms.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1047824"/>
            <a:ext cx="8084567" cy="34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714" y="3872930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Tokenize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3065926"/>
            <a:ext cx="222945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Remove Non-Alphabetic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2267073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Remove URLs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73714" y="1460068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Lowercase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96119" y="4609430"/>
            <a:ext cx="8608963" cy="131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Each step progressively refines the raw text, removing noise and standardizing the input for TF-IDF vectorization and downstream classification.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22771"/>
            <a:ext cx="2628230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TF-IDF Feature Vectorization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50504"/>
            <a:ext cx="26282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Term Frequency-Inverse Document Frequency converts cleaned text into numerical representations by evaluating word importance relative to the corpus.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737172"/>
            <a:ext cx="262823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737172"/>
            <a:ext cx="2628230" cy="4631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3379738"/>
            <a:ext cx="2628230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5,000 max features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extracted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Unigrams + bigrams to capture sequential context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High discriminative power on textual structure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988" y="1104751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9947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Four Classification Paradigms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38597"/>
            <a:ext cx="8151763" cy="8239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4461" y="1321817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197471" y="1194941"/>
            <a:ext cx="7294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KNN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197471" y="1489249"/>
            <a:ext cx="72940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Non-parametric, instance-based learning using Minkowski distance to classify by majority vote of k-nearest neighbors.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95562"/>
            <a:ext cx="8151763" cy="8239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4461" y="2278782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97471" y="2151906"/>
            <a:ext cx="7294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97471" y="2446213"/>
            <a:ext cx="72940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Parametric linear model estimating binary class probability via logistic function — highly interpretable.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952527"/>
            <a:ext cx="8151763" cy="82398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84461" y="3235747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197471" y="3108871"/>
            <a:ext cx="7294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1197471" y="3403178"/>
            <a:ext cx="72940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Ensemble of decision trees using bagging and feature randomness, mitigating overfitting.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909492"/>
            <a:ext cx="8151763" cy="82398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84461" y="4192712"/>
            <a:ext cx="205978" cy="2574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197471" y="4065836"/>
            <a:ext cx="7294066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MLP Neural Network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1197471" y="4360143"/>
            <a:ext cx="7294066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Single hidden layer of 100 neurons modeling complex non-linear relationships in TF-IDF space.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3411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Model Evaluation Results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96119" y="1198587"/>
            <a:ext cx="8151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Models trained on </a:t>
            </a: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80%</a:t>
            </a: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of data (800 samples) and tested on </a:t>
            </a: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20%</a:t>
            </a: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(200 samples). All four classifiers achieved perfect scores on the synthetic benchmark dataset.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96119" y="1780877"/>
            <a:ext cx="8151763" cy="1955527"/>
          </a:xfrm>
          <a:prstGeom prst="roundRect">
            <a:avLst>
              <a:gd name="adj" fmla="val 295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2173412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563564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953717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343870"/>
            <a:ext cx="8151763" cy="8584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129507" y="1780877"/>
            <a:ext cx="8584" cy="195552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757910" y="1780877"/>
            <a:ext cx="8584" cy="195552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386313" y="1780877"/>
            <a:ext cx="8584" cy="195552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014716" y="1780877"/>
            <a:ext cx="8584" cy="195552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8398" y="1870174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Model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69182" y="1870174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97585" y="1870174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525988" y="1870174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Recall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54391" y="1870174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8398" y="2260327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KNN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69182" y="2260327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97585" y="2260327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525988" y="2260327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54391" y="2260327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8398" y="2650480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269182" y="2650480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97585" y="2650480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25988" y="2650480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54391" y="2650480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8398" y="3040633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69182" y="3040633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97585" y="3040633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25988" y="3040633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54391" y="3040633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38398" y="3430786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Neural Network (MLP)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269182" y="3430786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897585" y="3430786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25988" y="3430786"/>
            <a:ext cx="1806253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54391" y="3430786"/>
            <a:ext cx="1808634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1.00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96119" y="3886051"/>
            <a:ext cx="8151763" cy="753963"/>
          </a:xfrm>
          <a:prstGeom prst="roundRect">
            <a:avLst>
              <a:gd name="adj" fmla="val 7650"/>
            </a:avLst>
          </a:prstGeom>
          <a:solidFill>
            <a:srgbClr val="3D3D42"/>
          </a:solidFill>
          <a:ln/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3" y="4080346"/>
            <a:ext cx="171599" cy="137294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942305" y="4053334"/>
            <a:ext cx="756828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Perfect scores reflect the discriminative power of TF-IDF features on this synthetic benchmark — confusion matrices confirmed </a:t>
            </a:r>
            <a:r>
              <a:rPr lang="en-US" sz="10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 false positives</a:t>
            </a:r>
            <a:r>
              <a:rPr lang="en-US" sz="10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r>
              <a:rPr lang="en-US" sz="10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 false negatives</a:t>
            </a:r>
            <a:r>
              <a:rPr lang="en-US" sz="10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across all models.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709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Confusion Matrices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63601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 four models — KNN, Logistic Regression, Random Forest, and MLP — achieved identical conf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049884"/>
            <a:ext cx="2212702" cy="177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979515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usion matrices on the 200-sample test set, with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 true positives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r>
              <a:rPr lang="en-US" sz="11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100 true negatives</a:t>
            </a: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and zero misclassifications.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79611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Discussion: Model Behaviors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321891"/>
            <a:ext cx="1597893" cy="31018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460" y="1469082"/>
            <a:ext cx="1246361" cy="623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Parametric vs. Non-Parametric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00460" y="2216721"/>
            <a:ext cx="1246361" cy="205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Logistic Regression converges quickly with interpretable coefficients. KNN makes no distributional assumptions but is sensitive to the curse of dimensionality and has slower inference.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18581" y="1321891"/>
            <a:ext cx="1597968" cy="31018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422922" y="1469082"/>
            <a:ext cx="1246436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Ensemble &amp; Deep Learning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2422922" y="2009031"/>
            <a:ext cx="1246436" cy="2059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Random Forest uses bagging for robust, overfitting-resistant boundaries. MLP learns feature interactions dynamically but is computationally more intensive than linear baselines.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5459" y="1595810"/>
            <a:ext cx="4507111" cy="2553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649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Conclusion &amp; Future Scope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92994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This project demonstrates a complete end-to-end NLP pipeline for fake news detection, comparing four classification paradigms with TF-IDF vectorization.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306092"/>
            <a:ext cx="1143595" cy="7067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31900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Transformer Embeddings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49656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Replace TF-IDF with BERT to capture deeper semantic meanings and contextual nuances in text.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2306092"/>
            <a:ext cx="1143595" cy="70678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31900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Live Data Pipelines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49656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Integrate NewsAPI scraping to ingest live articles and adapt to emerging misinformation trends in real-time.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2306092"/>
            <a:ext cx="1143595" cy="70678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3190056"/>
            <a:ext cx="25991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Scalable Deployment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496568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Extend the pipeline for production-grade deployment with continuous model retraining and monitoring.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616</Words>
  <Application>Microsoft Office PowerPoint</Application>
  <PresentationFormat>On-screen Show (16:9)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 Light</vt:lpstr>
      <vt:lpstr>Poppins Light</vt:lpstr>
      <vt:lpstr>Consolas</vt:lpstr>
      <vt:lpstr>Arial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Harshil Patel</cp:lastModifiedBy>
  <cp:revision>3</cp:revision>
  <dcterms:created xsi:type="dcterms:W3CDTF">2026-07-27T05:46:11Z</dcterms:created>
  <dcterms:modified xsi:type="dcterms:W3CDTF">2026-07-27T05:48:39Z</dcterms:modified>
</cp:coreProperties>
</file>